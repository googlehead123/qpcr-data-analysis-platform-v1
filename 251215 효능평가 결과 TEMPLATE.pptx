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6"/>
  </p:notesMasterIdLst>
  <p:sldIdLst>
    <p:sldId id="444" r:id="rId2"/>
    <p:sldId id="440" r:id="rId3"/>
    <p:sldId id="446" r:id="rId4"/>
    <p:sldId id="27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FC"/>
    <a:srgbClr val="C992CA"/>
    <a:srgbClr val="2E7034"/>
    <a:srgbClr val="D99694"/>
    <a:srgbClr val="7C7C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민상 (Minsang Kim) COSMAX BTI" userId="cd3abece-edaf-4c89-931c-0a39ed461b47" providerId="ADAL" clId="{E1371717-D3B3-4C52-A71C-323C352FE0D0}"/>
    <pc:docChg chg="undo custSel addSld modSld">
      <pc:chgData name="김민상 (Minsang Kim) COSMAX BTI" userId="cd3abece-edaf-4c89-931c-0a39ed461b47" providerId="ADAL" clId="{E1371717-D3B3-4C52-A71C-323C352FE0D0}" dt="2025-12-15T06:21:48.940" v="1492" actId="478"/>
      <pc:docMkLst>
        <pc:docMk/>
      </pc:docMkLst>
      <pc:sldChg chg="modSp mod">
        <pc:chgData name="김민상 (Minsang Kim) COSMAX BTI" userId="cd3abece-edaf-4c89-931c-0a39ed461b47" providerId="ADAL" clId="{E1371717-D3B3-4C52-A71C-323C352FE0D0}" dt="2025-12-15T02:13:36.366" v="1484" actId="2711"/>
        <pc:sldMkLst>
          <pc:docMk/>
          <pc:sldMk cId="4208146391" sldId="270"/>
        </pc:sldMkLst>
      </pc:sldChg>
      <pc:sldChg chg="addSp delSp modSp mod">
        <pc:chgData name="김민상 (Minsang Kim) COSMAX BTI" userId="cd3abece-edaf-4c89-931c-0a39ed461b47" providerId="ADAL" clId="{E1371717-D3B3-4C52-A71C-323C352FE0D0}" dt="2025-12-15T02:13:24.249" v="1480" actId="2711"/>
        <pc:sldMkLst>
          <pc:docMk/>
          <pc:sldMk cId="398699709" sldId="440"/>
        </pc:sldMkLst>
      </pc:sldChg>
      <pc:sldChg chg="modSp mod">
        <pc:chgData name="김민상 (Minsang Kim) COSMAX BTI" userId="cd3abece-edaf-4c89-931c-0a39ed461b47" providerId="ADAL" clId="{E1371717-D3B3-4C52-A71C-323C352FE0D0}" dt="2025-12-15T02:13:28.492" v="1481" actId="2711"/>
        <pc:sldMkLst>
          <pc:docMk/>
          <pc:sldMk cId="3556406536" sldId="444"/>
        </pc:sldMkLst>
      </pc:sldChg>
      <pc:sldChg chg="addSp delSp modSp add mod">
        <pc:chgData name="김민상 (Minsang Kim) COSMAX BTI" userId="cd3abece-edaf-4c89-931c-0a39ed461b47" providerId="ADAL" clId="{E1371717-D3B3-4C52-A71C-323C352FE0D0}" dt="2025-12-15T02:13:31.215" v="1482" actId="2711"/>
        <pc:sldMkLst>
          <pc:docMk/>
          <pc:sldMk cId="2840761676" sldId="445"/>
        </pc:sldMkLst>
      </pc:sldChg>
      <pc:sldChg chg="addSp delSp modSp add mod">
        <pc:chgData name="김민상 (Minsang Kim) COSMAX BTI" userId="cd3abece-edaf-4c89-931c-0a39ed461b47" providerId="ADAL" clId="{E1371717-D3B3-4C52-A71C-323C352FE0D0}" dt="2025-12-15T06:21:48.940" v="1492" actId="478"/>
        <pc:sldMkLst>
          <pc:docMk/>
          <pc:sldMk cId="3775856965" sldId="446"/>
        </pc:sldMkLst>
      </pc:sldChg>
    </pc:docChg>
  </pc:docChgLst>
  <pc:docChgLst>
    <pc:chgData name="김민상 (Minsang Kim) COSMAX BTI" userId="cd3abece-edaf-4c89-931c-0a39ed461b47" providerId="ADAL" clId="{8144C2A9-E0C6-4206-9A6F-1B398969A384}"/>
    <pc:docChg chg="delSld">
      <pc:chgData name="김민상 (Minsang Kim) COSMAX BTI" userId="cd3abece-edaf-4c89-931c-0a39ed461b47" providerId="ADAL" clId="{8144C2A9-E0C6-4206-9A6F-1B398969A384}" dt="2026-02-10T13:49:39.881" v="0" actId="47"/>
      <pc:docMkLst>
        <pc:docMk/>
      </pc:docMkLst>
      <pc:sldChg chg="del">
        <pc:chgData name="김민상 (Minsang Kim) COSMAX BTI" userId="cd3abece-edaf-4c89-931c-0a39ed461b47" providerId="ADAL" clId="{8144C2A9-E0C6-4206-9A6F-1B398969A384}" dt="2026-02-10T13:49:39.881" v="0" actId="47"/>
        <pc:sldMkLst>
          <pc:docMk/>
          <pc:sldMk cId="2840761676" sldId="4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E8D277-8A27-4C7D-AB0F-C68E721B730D}" type="datetimeFigureOut">
              <a:rPr lang="ko-KR" altLang="en-US" smtClean="0"/>
              <a:t>2026-02-14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AB688-74FE-44C0-AA77-8AF1F20E13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0444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79E41E-52A6-4CCF-95E5-9F8ED53049E9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171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AFEF9-76E3-4062-9A62-602134705C32}" type="datetimeFigureOut">
              <a:rPr lang="ko-KR" altLang="en-US" smtClean="0"/>
              <a:t>2026-02-14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DA18C-D2DD-4A35-8195-FDD2A339F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586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AFEF9-76E3-4062-9A62-602134705C32}" type="datetimeFigureOut">
              <a:rPr lang="ko-KR" altLang="en-US" smtClean="0"/>
              <a:t>2026-02-14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DA18C-D2DD-4A35-8195-FDD2A339F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503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AFEF9-76E3-4062-9A62-602134705C32}" type="datetimeFigureOut">
              <a:rPr lang="ko-KR" altLang="en-US" smtClean="0"/>
              <a:t>2026-02-14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DA18C-D2DD-4A35-8195-FDD2A339F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959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AFEF9-76E3-4062-9A62-602134705C32}" type="datetimeFigureOut">
              <a:rPr lang="ko-KR" altLang="en-US" smtClean="0"/>
              <a:t>2026-02-14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DA18C-D2DD-4A35-8195-FDD2A339F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150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AFEF9-76E3-4062-9A62-602134705C32}" type="datetimeFigureOut">
              <a:rPr lang="ko-KR" altLang="en-US" smtClean="0"/>
              <a:t>2026-02-14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DA18C-D2DD-4A35-8195-FDD2A339F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4511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AFEF9-76E3-4062-9A62-602134705C32}" type="datetimeFigureOut">
              <a:rPr lang="ko-KR" altLang="en-US" smtClean="0"/>
              <a:t>2026-02-14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DA18C-D2DD-4A35-8195-FDD2A339F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248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AFEF9-76E3-4062-9A62-602134705C32}" type="datetimeFigureOut">
              <a:rPr lang="ko-KR" altLang="en-US" smtClean="0"/>
              <a:t>2026-02-14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DA18C-D2DD-4A35-8195-FDD2A339F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320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AFEF9-76E3-4062-9A62-602134705C32}" type="datetimeFigureOut">
              <a:rPr lang="ko-KR" altLang="en-US" smtClean="0"/>
              <a:t>2026-02-14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DA18C-D2DD-4A35-8195-FDD2A339F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718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AFEF9-76E3-4062-9A62-602134705C32}" type="datetimeFigureOut">
              <a:rPr lang="ko-KR" altLang="en-US" smtClean="0"/>
              <a:t>2026-02-14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DA18C-D2DD-4A35-8195-FDD2A339F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640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AFEF9-76E3-4062-9A62-602134705C32}" type="datetimeFigureOut">
              <a:rPr lang="ko-KR" altLang="en-US" smtClean="0"/>
              <a:t>2026-02-14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DA18C-D2DD-4A35-8195-FDD2A339F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069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AFEF9-76E3-4062-9A62-602134705C32}" type="datetimeFigureOut">
              <a:rPr lang="ko-KR" altLang="en-US" smtClean="0"/>
              <a:t>2026-02-14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DA18C-D2DD-4A35-8195-FDD2A339F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009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21" name="Shape 2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Shape 2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146494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AFEF9-76E3-4062-9A62-602134705C32}" type="datetimeFigureOut">
              <a:rPr lang="ko-KR" altLang="en-US" smtClean="0"/>
              <a:t>2026-02-14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DA18C-D2DD-4A35-8195-FDD2A339F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179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E94F7FF-4168-8520-17F8-546D2C9C4A40}"/>
              </a:ext>
            </a:extLst>
          </p:cNvPr>
          <p:cNvSpPr/>
          <p:nvPr/>
        </p:nvSpPr>
        <p:spPr>
          <a:xfrm>
            <a:off x="0" y="693738"/>
            <a:ext cx="12192000" cy="4680000"/>
          </a:xfrm>
          <a:prstGeom prst="rect">
            <a:avLst/>
          </a:prstGeom>
          <a:solidFill>
            <a:schemeClr val="bg1">
              <a:lumMod val="5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F4C8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C:\Users\Computer\Desktop\COSMAX BTI CI-01.png">
            <a:extLst>
              <a:ext uri="{FF2B5EF4-FFF2-40B4-BE49-F238E27FC236}">
                <a16:creationId xmlns:a16="http://schemas.microsoft.com/office/drawing/2014/main" id="{D1E36403-DF69-AE2E-C02A-2623FA2FD4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" t="8046" r="3340" b="19833"/>
          <a:stretch/>
        </p:blipFill>
        <p:spPr bwMode="auto">
          <a:xfrm>
            <a:off x="357022" y="5694022"/>
            <a:ext cx="4956728" cy="714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B9B8F28-2C3E-F17A-525A-7D1AB6A190AB}"/>
              </a:ext>
            </a:extLst>
          </p:cNvPr>
          <p:cNvSpPr/>
          <p:nvPr/>
        </p:nvSpPr>
        <p:spPr>
          <a:xfrm>
            <a:off x="7584375" y="4972603"/>
            <a:ext cx="4572000" cy="3417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>
              <a:lnSpc>
                <a:spcPct val="110000"/>
              </a:lnSpc>
              <a:defRPr sz="1400"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lang="en-US" altLang="ko-KR" sz="1600" dirty="0">
                <a:solidFill>
                  <a:schemeClr val="bg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BT2</a:t>
            </a:r>
            <a:r>
              <a:rPr lang="ko-KR" altLang="en-US" sz="1600" dirty="0">
                <a:solidFill>
                  <a:schemeClr val="bg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팀</a:t>
            </a:r>
            <a:r>
              <a:rPr lang="en-US" altLang="ko-KR" sz="1600" dirty="0">
                <a:solidFill>
                  <a:schemeClr val="bg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/</a:t>
            </a:r>
            <a:r>
              <a:rPr lang="ko-KR" altLang="en-US" sz="1600" dirty="0">
                <a:solidFill>
                  <a:schemeClr val="bg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김민상</a:t>
            </a:r>
          </a:p>
        </p:txBody>
      </p:sp>
      <p:sp>
        <p:nvSpPr>
          <p:cNvPr id="8" name="TextBox 50">
            <a:extLst>
              <a:ext uri="{FF2B5EF4-FFF2-40B4-BE49-F238E27FC236}">
                <a16:creationId xmlns:a16="http://schemas.microsoft.com/office/drawing/2014/main" id="{1A4CB212-1CED-E135-8751-4128F8674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495129"/>
            <a:ext cx="91440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소재</a:t>
            </a:r>
            <a:endParaRPr lang="en-US" altLang="ko-KR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ko-KR" alt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효능 평가</a:t>
            </a:r>
          </a:p>
        </p:txBody>
      </p:sp>
    </p:spTree>
    <p:extLst>
      <p:ext uri="{BB962C8B-B14F-4D97-AF65-F5344CB8AC3E}">
        <p14:creationId xmlns:p14="http://schemas.microsoft.com/office/powerpoint/2010/main" val="3556406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30">
            <a:extLst>
              <a:ext uri="{FF2B5EF4-FFF2-40B4-BE49-F238E27FC236}">
                <a16:creationId xmlns:a16="http://schemas.microsoft.com/office/drawing/2014/main" id="{4C199F8B-07C8-47BE-CB09-1758C4B073EC}"/>
              </a:ext>
            </a:extLst>
          </p:cNvPr>
          <p:cNvSpPr/>
          <p:nvPr/>
        </p:nvSpPr>
        <p:spPr>
          <a:xfrm flipV="1">
            <a:off x="-1" y="6538502"/>
            <a:ext cx="12192001" cy="23642"/>
          </a:xfrm>
          <a:prstGeom prst="line">
            <a:avLst/>
          </a:prstGeom>
          <a:ln w="3175">
            <a:solidFill>
              <a:srgbClr val="000000"/>
            </a:solidFill>
          </a:ln>
        </p:spPr>
        <p:txBody>
          <a:bodyPr lIns="45719" rIns="45719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2.tif">
            <a:extLst>
              <a:ext uri="{FF2B5EF4-FFF2-40B4-BE49-F238E27FC236}">
                <a16:creationId xmlns:a16="http://schemas.microsoft.com/office/drawing/2014/main" id="{6DC780D0-1B1A-7BFE-525D-BFFE8B549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0" y="6680053"/>
            <a:ext cx="2486655" cy="65338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Picture 2" descr="C:\Users\Computer\Desktop\COSMAX BTI CI-01.png">
            <a:extLst>
              <a:ext uri="{FF2B5EF4-FFF2-40B4-BE49-F238E27FC236}">
                <a16:creationId xmlns:a16="http://schemas.microsoft.com/office/drawing/2014/main" id="{4CBF1FA6-F050-14CB-5923-D5F52A49A0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" t="8046" r="3340" b="19833"/>
          <a:stretch/>
        </p:blipFill>
        <p:spPr bwMode="auto">
          <a:xfrm>
            <a:off x="10856364" y="6591883"/>
            <a:ext cx="1224136" cy="176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E7409F-8C52-5A72-0630-360FD0C0E0A6}"/>
              </a:ext>
            </a:extLst>
          </p:cNvPr>
          <p:cNvSpPr txBox="1"/>
          <p:nvPr/>
        </p:nvSpPr>
        <p:spPr>
          <a:xfrm>
            <a:off x="1535375" y="707238"/>
            <a:ext cx="25916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Date: 2025/12/12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Cell line: HS68 fibroblast (P0)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Sample concentration: 1ppm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Positive control: TGF</a:t>
            </a:r>
            <a:r>
              <a:rPr lang="el-GR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β</a:t>
            </a: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 (10 ng/ml)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Treatment time: 24 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Test method: RT-qPCR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0CC3FA-D682-58D8-CE79-688C2CC8133F}"/>
              </a:ext>
            </a:extLst>
          </p:cNvPr>
          <p:cNvSpPr txBox="1"/>
          <p:nvPr/>
        </p:nvSpPr>
        <p:spPr>
          <a:xfrm>
            <a:off x="255481" y="1085267"/>
            <a:ext cx="1099346" cy="297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탄력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항노화</a:t>
            </a:r>
            <a:endParaRPr lang="el-GR" altLang="ko-K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4BF3E2-F067-3454-7A8B-722D33D13A53}"/>
              </a:ext>
            </a:extLst>
          </p:cNvPr>
          <p:cNvSpPr txBox="1"/>
          <p:nvPr/>
        </p:nvSpPr>
        <p:spPr>
          <a:xfrm>
            <a:off x="5864884" y="1834135"/>
            <a:ext cx="25916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Date: 2025/12/12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Cell line: </a:t>
            </a:r>
            <a:r>
              <a:rPr lang="en-US" altLang="ko-KR" sz="1000" dirty="0" err="1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HaCaT</a:t>
            </a: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 keratinocyte (P0)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Sample concentration: 1ppm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Positive control: FBS 10%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Treatment time: 24 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Test method: RT-qPCR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63039B-777D-F2A7-2550-BAF271389D3A}"/>
              </a:ext>
            </a:extLst>
          </p:cNvPr>
          <p:cNvSpPr txBox="1"/>
          <p:nvPr/>
        </p:nvSpPr>
        <p:spPr>
          <a:xfrm>
            <a:off x="4745304" y="2110325"/>
            <a:ext cx="1099346" cy="519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세포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표피 증식</a:t>
            </a:r>
            <a:endParaRPr lang="el-GR" altLang="ko-K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FD948F-DD3F-D1C1-5756-FEB088AB522C}"/>
              </a:ext>
            </a:extLst>
          </p:cNvPr>
          <p:cNvSpPr txBox="1"/>
          <p:nvPr/>
        </p:nvSpPr>
        <p:spPr>
          <a:xfrm>
            <a:off x="4747870" y="3281870"/>
            <a:ext cx="1099347" cy="519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미토콘드리아 활성</a:t>
            </a:r>
            <a:endParaRPr lang="en-US" altLang="ko-K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E05A57-E503-BB81-5A90-966D6AD71E26}"/>
              </a:ext>
            </a:extLst>
          </p:cNvPr>
          <p:cNvSpPr txBox="1"/>
          <p:nvPr/>
        </p:nvSpPr>
        <p:spPr>
          <a:xfrm>
            <a:off x="5864134" y="3089482"/>
            <a:ext cx="259166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Date: 2025/12/12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Cell line: </a:t>
            </a:r>
            <a:r>
              <a:rPr lang="en-US" altLang="ko-KR" sz="1000" dirty="0" err="1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HaCaT</a:t>
            </a: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 keratinocyte (P0)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Sample concentration: 1ppm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Treatment time: 24 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Test method: </a:t>
            </a:r>
            <a:r>
              <a:rPr lang="en-US" altLang="ko-KR" sz="1000" dirty="0" err="1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MitoTracker</a:t>
            </a: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 Red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5B39FD-8BAB-BB13-EE5F-EEDCD3E04BA5}"/>
              </a:ext>
            </a:extLst>
          </p:cNvPr>
          <p:cNvSpPr txBox="1"/>
          <p:nvPr/>
        </p:nvSpPr>
        <p:spPr>
          <a:xfrm>
            <a:off x="5864884" y="781538"/>
            <a:ext cx="259166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Date: 2025/12/12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Cell line: HS68 fibroblast (P0)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Sample concentration: 1ppm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Treatment time: 24 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Test method: Wound healing assay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FC65D0-FCB8-2DCB-AA10-21AB2128337E}"/>
              </a:ext>
            </a:extLst>
          </p:cNvPr>
          <p:cNvSpPr txBox="1"/>
          <p:nvPr/>
        </p:nvSpPr>
        <p:spPr>
          <a:xfrm>
            <a:off x="4745174" y="1065302"/>
            <a:ext cx="1099346" cy="297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재생</a:t>
            </a:r>
            <a:endParaRPr lang="el-GR" altLang="ko-K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425AD8-423F-AE06-ADB0-94F11CA62FF6}"/>
              </a:ext>
            </a:extLst>
          </p:cNvPr>
          <p:cNvSpPr txBox="1"/>
          <p:nvPr/>
        </p:nvSpPr>
        <p:spPr>
          <a:xfrm>
            <a:off x="1533441" y="2950052"/>
            <a:ext cx="306858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Date: 2025/12/12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Cell line: </a:t>
            </a:r>
            <a:r>
              <a:rPr lang="en-US" altLang="ko-KR" sz="1000" dirty="0" err="1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HaCaT</a:t>
            </a: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 keratinocyte (P0)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Sample concentration: 1ppm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Positive control: Dexamethasone 1µM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Inducer: 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Poly(I:C) 10 </a:t>
            </a:r>
            <a:r>
              <a:rPr lang="el-GR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g/ml + IL-4 10 ng/ml</a:t>
            </a:r>
            <a:endParaRPr lang="en-US" altLang="ko-KR" sz="1000" dirty="0">
              <a:latin typeface="Arial" panose="020B0604020202020204" pitchFamily="34" charset="0"/>
              <a:ea typeface="맑은 고딕 Semilight" panose="020B0502040204020203" pitchFamily="50" charset="-127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Treatment time: 4 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Test method: RT-qPCR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4A4839-FD50-24CA-259E-96C31D5D3C13}"/>
              </a:ext>
            </a:extLst>
          </p:cNvPr>
          <p:cNvSpPr txBox="1"/>
          <p:nvPr/>
        </p:nvSpPr>
        <p:spPr>
          <a:xfrm>
            <a:off x="255481" y="3396435"/>
            <a:ext cx="1099346" cy="297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항염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진정</a:t>
            </a:r>
            <a:endParaRPr lang="el-GR" altLang="ko-K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574784-3EE7-EF18-44A5-72DE5823BA5E}"/>
              </a:ext>
            </a:extLst>
          </p:cNvPr>
          <p:cNvSpPr txBox="1"/>
          <p:nvPr/>
        </p:nvSpPr>
        <p:spPr>
          <a:xfrm>
            <a:off x="255481" y="5671375"/>
            <a:ext cx="1099346" cy="297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미백</a:t>
            </a:r>
            <a:endParaRPr lang="el-GR" altLang="ko-K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C7C947-BE48-36CB-850E-F3DE0C033630}"/>
              </a:ext>
            </a:extLst>
          </p:cNvPr>
          <p:cNvSpPr txBox="1"/>
          <p:nvPr/>
        </p:nvSpPr>
        <p:spPr>
          <a:xfrm>
            <a:off x="1533441" y="5192863"/>
            <a:ext cx="315092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Date: 2025/12/12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Cell line: B16F10 melanocyte (P0)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Sample concentration: 1ppm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Positive control: Arbutin 100 ppm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Inducer: </a:t>
            </a:r>
            <a:r>
              <a:rPr lang="el-GR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α</a:t>
            </a: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-MSH 0.1 </a:t>
            </a:r>
            <a:r>
              <a:rPr lang="el-GR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μ</a:t>
            </a: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Treatment time: 72 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Test method: Melanin content assay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44F37E-C918-83EA-2C51-B8DA9B3861D8}"/>
              </a:ext>
            </a:extLst>
          </p:cNvPr>
          <p:cNvSpPr txBox="1"/>
          <p:nvPr/>
        </p:nvSpPr>
        <p:spPr>
          <a:xfrm>
            <a:off x="1533441" y="1828645"/>
            <a:ext cx="25916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Date: 2025/12/12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Cell line: </a:t>
            </a:r>
            <a:r>
              <a:rPr lang="en-US" altLang="ko-KR" sz="1000" dirty="0" err="1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HaCaT</a:t>
            </a: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 keratinocyte (P0)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Sample concentration: 1ppm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Positive control: Retinoic acid 1 µM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Treatment time: 24 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Test method: RT-qPCR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5FDFDB-5F2D-CFC6-A15F-3C3BA09C6501}"/>
              </a:ext>
            </a:extLst>
          </p:cNvPr>
          <p:cNvSpPr txBox="1"/>
          <p:nvPr/>
        </p:nvSpPr>
        <p:spPr>
          <a:xfrm>
            <a:off x="255481" y="2187653"/>
            <a:ext cx="1325474" cy="297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장벽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보습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수분</a:t>
            </a:r>
            <a:endParaRPr lang="el-GR" altLang="ko-K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505485-97A9-EFC6-1D61-28066ECC35F0}"/>
              </a:ext>
            </a:extLst>
          </p:cNvPr>
          <p:cNvSpPr txBox="1"/>
          <p:nvPr/>
        </p:nvSpPr>
        <p:spPr>
          <a:xfrm>
            <a:off x="9390309" y="1735586"/>
            <a:ext cx="27663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00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defRPr>
            </a:lvl1pPr>
          </a:lstStyle>
          <a:p>
            <a:r>
              <a:rPr lang="en-US" altLang="ko-KR" dirty="0"/>
              <a:t>Date: 2025/12/12</a:t>
            </a:r>
          </a:p>
          <a:p>
            <a:r>
              <a:rPr lang="en-US" altLang="ko-KR" dirty="0"/>
              <a:t>Sample concentration: 1ppm</a:t>
            </a:r>
          </a:p>
          <a:p>
            <a:r>
              <a:rPr lang="en-US" altLang="ko-KR" dirty="0"/>
              <a:t>Positive control: Tannic Acid (1mg/ml)</a:t>
            </a:r>
          </a:p>
          <a:p>
            <a:r>
              <a:rPr lang="en-US" altLang="ko-KR" dirty="0"/>
              <a:t>Test method: Astringent assay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7123D8-D58D-0263-4732-3D7EDF1DC2F4}"/>
              </a:ext>
            </a:extLst>
          </p:cNvPr>
          <p:cNvSpPr txBox="1"/>
          <p:nvPr/>
        </p:nvSpPr>
        <p:spPr>
          <a:xfrm>
            <a:off x="8408374" y="1940706"/>
            <a:ext cx="1099346" cy="297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모공 수렴</a:t>
            </a:r>
            <a:endParaRPr lang="el-GR" altLang="ko-K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15BE58-B16C-9AE9-C528-1D564A4FC8CD}"/>
              </a:ext>
            </a:extLst>
          </p:cNvPr>
          <p:cNvSpPr txBox="1"/>
          <p:nvPr/>
        </p:nvSpPr>
        <p:spPr>
          <a:xfrm>
            <a:off x="8408374" y="3038527"/>
            <a:ext cx="1099346" cy="297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모</a:t>
            </a:r>
            <a:r>
              <a:rPr lang="ko-KR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공</a:t>
            </a: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탄력</a:t>
            </a:r>
            <a:endParaRPr lang="el-GR" altLang="ko-K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0127E1-B040-B41C-10AD-7BDD1C2156F3}"/>
              </a:ext>
            </a:extLst>
          </p:cNvPr>
          <p:cNvSpPr txBox="1"/>
          <p:nvPr/>
        </p:nvSpPr>
        <p:spPr>
          <a:xfrm>
            <a:off x="8408374" y="1078932"/>
            <a:ext cx="1099346" cy="297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항산화</a:t>
            </a:r>
            <a:endParaRPr lang="el-GR" altLang="ko-K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7CB1CB-54FE-99EF-0ACE-61F170B40958}"/>
              </a:ext>
            </a:extLst>
          </p:cNvPr>
          <p:cNvSpPr txBox="1"/>
          <p:nvPr/>
        </p:nvSpPr>
        <p:spPr>
          <a:xfrm>
            <a:off x="9390310" y="865925"/>
            <a:ext cx="27663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00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defRPr>
            </a:lvl1pPr>
          </a:lstStyle>
          <a:p>
            <a:r>
              <a:rPr lang="en-US" altLang="ko-KR" dirty="0"/>
              <a:t>Date: 2025/12/12</a:t>
            </a:r>
          </a:p>
          <a:p>
            <a:r>
              <a:rPr lang="en-US" altLang="ko-KR" dirty="0"/>
              <a:t>Sample concentration: 1ppm</a:t>
            </a:r>
          </a:p>
          <a:p>
            <a:r>
              <a:rPr lang="en-US" altLang="ko-KR" dirty="0"/>
              <a:t>Positive control: Ascorbic Acid 10ppm</a:t>
            </a:r>
          </a:p>
          <a:p>
            <a:r>
              <a:rPr lang="en-US" altLang="ko-KR" dirty="0"/>
              <a:t>Test method: DPPH assay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B8ED78-9629-4757-1B97-1266CE68E1F6}"/>
              </a:ext>
            </a:extLst>
          </p:cNvPr>
          <p:cNvSpPr txBox="1"/>
          <p:nvPr/>
        </p:nvSpPr>
        <p:spPr>
          <a:xfrm>
            <a:off x="9390309" y="3941093"/>
            <a:ext cx="27663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Date: 2025/12/12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Cell line: </a:t>
            </a:r>
            <a:r>
              <a:rPr lang="en-US" altLang="ko-KR" sz="1000" dirty="0" err="1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HaCaT</a:t>
            </a: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 keratinocyte (P0)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Sample concentration: 1ppm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Positive control: Menthol 100ppm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Treatment time: 24 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Test method: RT-qPCR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C24C706-2FC9-D3AE-FAE5-AF84282F040F}"/>
              </a:ext>
            </a:extLst>
          </p:cNvPr>
          <p:cNvSpPr txBox="1"/>
          <p:nvPr/>
        </p:nvSpPr>
        <p:spPr>
          <a:xfrm>
            <a:off x="8443096" y="4300101"/>
            <a:ext cx="1099346" cy="297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냉감</a:t>
            </a:r>
            <a:endParaRPr lang="el-GR" altLang="ko-K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B21E59-B024-0AEE-13E0-663B42E73558}"/>
              </a:ext>
            </a:extLst>
          </p:cNvPr>
          <p:cNvSpPr txBox="1"/>
          <p:nvPr/>
        </p:nvSpPr>
        <p:spPr>
          <a:xfrm>
            <a:off x="9390309" y="2664651"/>
            <a:ext cx="27663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Date: 2025/12/12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Cell line: HDF young/old fibroblast (P0)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Sample concentration: 1ppm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Positive control: Niacinamide 0.1%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Treatment time: 24 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Test method: RT-qPCR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90C621-E81A-B49E-F4F9-F2D892197374}"/>
              </a:ext>
            </a:extLst>
          </p:cNvPr>
          <p:cNvSpPr txBox="1"/>
          <p:nvPr/>
        </p:nvSpPr>
        <p:spPr>
          <a:xfrm>
            <a:off x="4684370" y="230277"/>
            <a:ext cx="2823261" cy="366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평가 방법 </a:t>
            </a: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endParaRPr lang="el-GR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06F5D5E-149F-8E8F-539B-88CF0FFD5CBC}"/>
              </a:ext>
            </a:extLst>
          </p:cNvPr>
          <p:cNvSpPr txBox="1"/>
          <p:nvPr/>
        </p:nvSpPr>
        <p:spPr>
          <a:xfrm>
            <a:off x="1533441" y="4225347"/>
            <a:ext cx="323695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Date: 2025/12/12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Cell line: </a:t>
            </a:r>
            <a:r>
              <a:rPr lang="en-US" altLang="ko-KR" sz="1000" dirty="0" err="1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HaCaT</a:t>
            </a: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 keratinocyte/HS68 fibroblast (P0)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Sample concentration: 1ppm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Treatment time: 24 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Test method: CCK-8 assay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DAD48E-E83A-1380-87BA-A8B692F77764}"/>
              </a:ext>
            </a:extLst>
          </p:cNvPr>
          <p:cNvSpPr txBox="1"/>
          <p:nvPr/>
        </p:nvSpPr>
        <p:spPr>
          <a:xfrm>
            <a:off x="255481" y="4521527"/>
            <a:ext cx="1243327" cy="299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독성</a:t>
            </a:r>
            <a:endParaRPr lang="en-US" altLang="ko-K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28A9B1-47EB-F366-D0AC-7DE9CF147BD5}"/>
              </a:ext>
            </a:extLst>
          </p:cNvPr>
          <p:cNvSpPr txBox="1"/>
          <p:nvPr/>
        </p:nvSpPr>
        <p:spPr>
          <a:xfrm>
            <a:off x="8443096" y="5506932"/>
            <a:ext cx="1243327" cy="299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>
                <a:latin typeface="Arial" panose="020B0604020202020204" pitchFamily="34" charset="0"/>
                <a:cs typeface="Arial" panose="020B0604020202020204" pitchFamily="34" charset="0"/>
              </a:rPr>
              <a:t>육모</a:t>
            </a:r>
            <a:endParaRPr lang="en-US" altLang="ko-K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707CAB-19C3-4DAB-50AF-E279691D6BEC}"/>
              </a:ext>
            </a:extLst>
          </p:cNvPr>
          <p:cNvSpPr txBox="1"/>
          <p:nvPr/>
        </p:nvSpPr>
        <p:spPr>
          <a:xfrm>
            <a:off x="4747870" y="4520874"/>
            <a:ext cx="1243327" cy="299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지질 억제</a:t>
            </a:r>
            <a:endParaRPr lang="en-US" altLang="ko-K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21581B1-29FF-3176-8D2B-FC75156D0B64}"/>
              </a:ext>
            </a:extLst>
          </p:cNvPr>
          <p:cNvSpPr txBox="1"/>
          <p:nvPr/>
        </p:nvSpPr>
        <p:spPr>
          <a:xfrm>
            <a:off x="9390309" y="5165035"/>
            <a:ext cx="27663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Date: 2025/12/12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Cell line: HFDPC Mesenchymal cell (P0)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Sample concentration: 1ppm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Positive control: Minoxidil 0.1</a:t>
            </a:r>
            <a:r>
              <a:rPr lang="el-GR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endParaRPr lang="en-US" altLang="ko-KR" sz="1000" dirty="0">
              <a:latin typeface="Arial" panose="020B0604020202020204" pitchFamily="34" charset="0"/>
              <a:ea typeface="맑은 고딕 Semilight" panose="020B0502040204020203" pitchFamily="50" charset="-127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Treatment time: 24 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Test method: RT-qPCR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1E1AB7-9335-342A-9D5F-2AF4B4AE9889}"/>
              </a:ext>
            </a:extLst>
          </p:cNvPr>
          <p:cNvSpPr txBox="1"/>
          <p:nvPr/>
        </p:nvSpPr>
        <p:spPr>
          <a:xfrm>
            <a:off x="4740182" y="5615618"/>
            <a:ext cx="1243327" cy="299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과각화</a:t>
            </a:r>
            <a:endParaRPr lang="en-US" altLang="ko-K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9504C3-C576-A8E4-B3DC-C34B775DE4AA}"/>
              </a:ext>
            </a:extLst>
          </p:cNvPr>
          <p:cNvSpPr txBox="1"/>
          <p:nvPr/>
        </p:nvSpPr>
        <p:spPr>
          <a:xfrm>
            <a:off x="5864134" y="5391349"/>
            <a:ext cx="267472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Date: 2025/12/12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Cell line: </a:t>
            </a:r>
            <a:r>
              <a:rPr lang="en-US" altLang="ko-KR" sz="1000" dirty="0" err="1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HaCaT</a:t>
            </a: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 keratinocyte (P0)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Sample concentration: 1ppm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Treatment time: 24 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Test method: RT-qPCR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7E76712-9974-9B9D-0B96-0914C5FD49DC}"/>
              </a:ext>
            </a:extLst>
          </p:cNvPr>
          <p:cNvSpPr txBox="1"/>
          <p:nvPr/>
        </p:nvSpPr>
        <p:spPr>
          <a:xfrm>
            <a:off x="5864134" y="4242359"/>
            <a:ext cx="259166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Date: 2025/12/12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Cell line: SZ95 </a:t>
            </a:r>
            <a:r>
              <a:rPr lang="en-US" altLang="ko-KR" sz="1000" dirty="0" err="1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Sebocyte</a:t>
            </a: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 (P0)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Sample concentration: 1ppm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Treatment time: 24 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Test method: RT-qPCR</a:t>
            </a:r>
          </a:p>
        </p:txBody>
      </p:sp>
    </p:spTree>
    <p:extLst>
      <p:ext uri="{BB962C8B-B14F-4D97-AF65-F5344CB8AC3E}">
        <p14:creationId xmlns:p14="http://schemas.microsoft.com/office/powerpoint/2010/main" val="398699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EDEE1-13EE-3623-0838-7FF66F19A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734827B-6122-791A-B828-590CB0F10BCD}"/>
              </a:ext>
            </a:extLst>
          </p:cNvPr>
          <p:cNvCxnSpPr/>
          <p:nvPr/>
        </p:nvCxnSpPr>
        <p:spPr>
          <a:xfrm>
            <a:off x="3600000" y="163718"/>
            <a:ext cx="0" cy="126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E7A8BAD-84A1-97B2-C88D-E1C3EB06D30A}"/>
              </a:ext>
            </a:extLst>
          </p:cNvPr>
          <p:cNvCxnSpPr/>
          <p:nvPr/>
        </p:nvCxnSpPr>
        <p:spPr>
          <a:xfrm>
            <a:off x="0" y="793718"/>
            <a:ext cx="360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Shape 130">
            <a:extLst>
              <a:ext uri="{FF2B5EF4-FFF2-40B4-BE49-F238E27FC236}">
                <a16:creationId xmlns:a16="http://schemas.microsoft.com/office/drawing/2014/main" id="{8577C1F6-247B-6909-A2E4-D463BC61A976}"/>
              </a:ext>
            </a:extLst>
          </p:cNvPr>
          <p:cNvSpPr/>
          <p:nvPr/>
        </p:nvSpPr>
        <p:spPr>
          <a:xfrm flipV="1">
            <a:off x="-1" y="6538502"/>
            <a:ext cx="12192001" cy="23642"/>
          </a:xfrm>
          <a:prstGeom prst="line">
            <a:avLst/>
          </a:prstGeom>
          <a:ln w="3175">
            <a:solidFill>
              <a:srgbClr val="000000"/>
            </a:solidFill>
          </a:ln>
        </p:spPr>
        <p:txBody>
          <a:bodyPr lIns="45719" rIns="45719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2.tif">
            <a:extLst>
              <a:ext uri="{FF2B5EF4-FFF2-40B4-BE49-F238E27FC236}">
                <a16:creationId xmlns:a16="http://schemas.microsoft.com/office/drawing/2014/main" id="{91BE6D22-9627-280E-7D04-AEC11EC57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0" y="6680053"/>
            <a:ext cx="2486655" cy="65338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Picture 2" descr="C:\Users\Computer\Desktop\COSMAX BTI CI-01.png">
            <a:extLst>
              <a:ext uri="{FF2B5EF4-FFF2-40B4-BE49-F238E27FC236}">
                <a16:creationId xmlns:a16="http://schemas.microsoft.com/office/drawing/2014/main" id="{84F2FBA7-93C9-BE58-BDCE-A17CA60FB7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" t="8046" r="3340" b="19833"/>
          <a:stretch/>
        </p:blipFill>
        <p:spPr bwMode="auto">
          <a:xfrm>
            <a:off x="10856364" y="6591883"/>
            <a:ext cx="1224136" cy="176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421033D-EF76-6D07-76B3-D4CF18B2A647}"/>
              </a:ext>
            </a:extLst>
          </p:cNvPr>
          <p:cNvSpPr txBox="1"/>
          <p:nvPr/>
        </p:nvSpPr>
        <p:spPr>
          <a:xfrm>
            <a:off x="1942881" y="5948645"/>
            <a:ext cx="8306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Results: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효능 有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無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B1FBA3-4F63-94C2-6453-BD138D454F3A}"/>
              </a:ext>
            </a:extLst>
          </p:cNvPr>
          <p:cNvSpPr txBox="1"/>
          <p:nvPr/>
        </p:nvSpPr>
        <p:spPr>
          <a:xfrm>
            <a:off x="388369" y="397917"/>
            <a:ext cx="2823261" cy="366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효능 평가</a:t>
            </a:r>
            <a:endParaRPr lang="el-GR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F68BFA-39B0-8F47-913D-FC9EA52E36D6}"/>
              </a:ext>
            </a:extLst>
          </p:cNvPr>
          <p:cNvSpPr txBox="1"/>
          <p:nvPr/>
        </p:nvSpPr>
        <p:spPr>
          <a:xfrm>
            <a:off x="3763957" y="125342"/>
            <a:ext cx="4358029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Date: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Cell line: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Sample concentration: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Positive control: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Inducer: </a:t>
            </a: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ko-KR" sz="1100" dirty="0">
              <a:latin typeface="Arial" panose="020B0604020202020204" pitchFamily="34" charset="0"/>
              <a:ea typeface="맑은 고딕 Semilight" panose="020B0502040204020203" pitchFamily="50" charset="-127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Treatment time: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Arial" panose="020B0604020202020204" pitchFamily="34" charset="0"/>
                <a:ea typeface="맑은 고딕 Semilight" panose="020B0502040204020203" pitchFamily="50" charset="-127"/>
                <a:cs typeface="Arial" panose="020B0604020202020204" pitchFamily="34" charset="0"/>
              </a:rPr>
              <a:t>Test method:</a:t>
            </a:r>
          </a:p>
        </p:txBody>
      </p:sp>
    </p:spTree>
    <p:extLst>
      <p:ext uri="{BB962C8B-B14F-4D97-AF65-F5344CB8AC3E}">
        <p14:creationId xmlns:p14="http://schemas.microsoft.com/office/powerpoint/2010/main" val="3775856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0B916AFC-31A9-C923-D4D5-ED8566899DB6}"/>
              </a:ext>
            </a:extLst>
          </p:cNvPr>
          <p:cNvGrpSpPr/>
          <p:nvPr/>
        </p:nvGrpSpPr>
        <p:grpSpPr>
          <a:xfrm>
            <a:off x="0" y="9144"/>
            <a:ext cx="12192000" cy="6839712"/>
            <a:chOff x="0" y="9144"/>
            <a:chExt cx="12192000" cy="6839712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20E12163-82B3-B80C-B63C-37FA1B322C3E}"/>
                </a:ext>
              </a:extLst>
            </p:cNvPr>
            <p:cNvSpPr/>
            <p:nvPr/>
          </p:nvSpPr>
          <p:spPr>
            <a:xfrm>
              <a:off x="0" y="9144"/>
              <a:ext cx="12192000" cy="6839712"/>
            </a:xfrm>
            <a:prstGeom prst="rect">
              <a:avLst/>
            </a:prstGeom>
            <a:solidFill>
              <a:srgbClr val="FFFE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0" y="9144"/>
              <a:ext cx="9144000" cy="68397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814639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f1579f1-0b38-4219-8499-bb3216f8bc62}" enabled="1" method="Standard" siteId="{88c3e3b5-abdd-4476-b47a-f563a26aae9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2514</TotalTime>
  <Words>512</Words>
  <Application>Microsoft Office PowerPoint</Application>
  <PresentationFormat>와이드스크린</PresentationFormat>
  <Paragraphs>112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김혜연 (Hyeyoun Kim) COSMAX BTI</dc:creator>
  <cp:lastModifiedBy>김민상 (Minsang Kim) COSMAX BTI</cp:lastModifiedBy>
  <cp:revision>189</cp:revision>
  <dcterms:created xsi:type="dcterms:W3CDTF">2024-08-27T05:47:54Z</dcterms:created>
  <dcterms:modified xsi:type="dcterms:W3CDTF">2026-02-14T05:32:43Z</dcterms:modified>
</cp:coreProperties>
</file>